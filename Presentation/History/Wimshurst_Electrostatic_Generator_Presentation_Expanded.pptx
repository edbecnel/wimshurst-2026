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232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Wimshurst Dischar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29872"/>
            <a:ext cx="12191695" cy="771774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389120"/>
            <a:ext cx="12191695" cy="246888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64515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Charge, Capacitance &amp; High Voltage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230368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E8EDF7"/>
                </a:solidFill>
                <a:latin typeface="Aptos"/>
              </a:rPr>
              <a:t>Investigating a Wimshurst Electrostatic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5760720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2BEDC"/>
                </a:solidFill>
                <a:latin typeface="Aptos"/>
              </a:rPr>
              <a:t>Science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What Does a Wimshurst Machine Do?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234440" cy="45720"/>
          </a:xfrm>
          <a:prstGeom prst="rect">
            <a:avLst/>
          </a:prstGeom>
          <a:solidFill>
            <a:srgbClr val="52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972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Mechanical motion separates electrical charge and creates a very large potential difference.</a:t>
            </a:r>
          </a:p>
        </p:txBody>
      </p:sp>
      <p:sp>
        <p:nvSpPr>
          <p:cNvPr id="6" name="Oval 5"/>
          <p:cNvSpPr/>
          <p:nvPr/>
        </p:nvSpPr>
        <p:spPr>
          <a:xfrm>
            <a:off x="1691640" y="1828800"/>
            <a:ext cx="2103120" cy="2103120"/>
          </a:xfrm>
          <a:prstGeom prst="ellipse">
            <a:avLst/>
          </a:prstGeom>
          <a:solidFill>
            <a:srgbClr val="48557D"/>
          </a:solidFill>
          <a:ln w="25400">
            <a:solidFill>
              <a:srgbClr val="5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383280" y="2734056"/>
            <a:ext cx="146304" cy="292608"/>
          </a:xfrm>
          <a:prstGeom prst="rect">
            <a:avLst/>
          </a:prstGeom>
          <a:solidFill>
            <a:srgbClr val="E6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174379" y="3238387"/>
            <a:ext cx="146304" cy="292608"/>
          </a:xfrm>
          <a:prstGeom prst="rect">
            <a:avLst/>
          </a:prstGeom>
          <a:solidFill>
            <a:srgbClr val="E6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70048" y="3447287"/>
            <a:ext cx="146304" cy="292608"/>
          </a:xfrm>
          <a:prstGeom prst="rect">
            <a:avLst/>
          </a:prstGeom>
          <a:solidFill>
            <a:srgbClr val="E6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165716" y="3238387"/>
            <a:ext cx="146304" cy="292608"/>
          </a:xfrm>
          <a:prstGeom prst="rect">
            <a:avLst/>
          </a:prstGeom>
          <a:solidFill>
            <a:srgbClr val="E6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956815" y="2734056"/>
            <a:ext cx="146304" cy="292608"/>
          </a:xfrm>
          <a:prstGeom prst="rect">
            <a:avLst/>
          </a:prstGeom>
          <a:solidFill>
            <a:srgbClr val="E6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65716" y="2229724"/>
            <a:ext cx="146304" cy="292608"/>
          </a:xfrm>
          <a:prstGeom prst="rect">
            <a:avLst/>
          </a:prstGeom>
          <a:solidFill>
            <a:srgbClr val="E6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70048" y="2020824"/>
            <a:ext cx="146304" cy="292608"/>
          </a:xfrm>
          <a:prstGeom prst="rect">
            <a:avLst/>
          </a:prstGeom>
          <a:solidFill>
            <a:srgbClr val="E6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74379" y="2229724"/>
            <a:ext cx="146304" cy="292608"/>
          </a:xfrm>
          <a:prstGeom prst="rect">
            <a:avLst/>
          </a:prstGeom>
          <a:solidFill>
            <a:srgbClr val="E6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017520" y="1828800"/>
            <a:ext cx="2103120" cy="2103120"/>
          </a:xfrm>
          <a:prstGeom prst="ellipse">
            <a:avLst/>
          </a:prstGeom>
          <a:solidFill>
            <a:srgbClr val="48557D"/>
          </a:solidFill>
          <a:ln w="25400">
            <a:solidFill>
              <a:srgbClr val="5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09160" y="2734056"/>
            <a:ext cx="146304" cy="292608"/>
          </a:xfrm>
          <a:prstGeom prst="rect">
            <a:avLst/>
          </a:prstGeom>
          <a:solidFill>
            <a:srgbClr val="E6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00259" y="3238387"/>
            <a:ext cx="146304" cy="292608"/>
          </a:xfrm>
          <a:prstGeom prst="rect">
            <a:avLst/>
          </a:prstGeom>
          <a:solidFill>
            <a:srgbClr val="E6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995928" y="3447287"/>
            <a:ext cx="146304" cy="292608"/>
          </a:xfrm>
          <a:prstGeom prst="rect">
            <a:avLst/>
          </a:prstGeom>
          <a:solidFill>
            <a:srgbClr val="E6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91596" y="3238387"/>
            <a:ext cx="146304" cy="292608"/>
          </a:xfrm>
          <a:prstGeom prst="rect">
            <a:avLst/>
          </a:prstGeom>
          <a:solidFill>
            <a:srgbClr val="E6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82696" y="2734056"/>
            <a:ext cx="146304" cy="292608"/>
          </a:xfrm>
          <a:prstGeom prst="rect">
            <a:avLst/>
          </a:prstGeom>
          <a:solidFill>
            <a:srgbClr val="E6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91596" y="2229724"/>
            <a:ext cx="146304" cy="292608"/>
          </a:xfrm>
          <a:prstGeom prst="rect">
            <a:avLst/>
          </a:prstGeom>
          <a:solidFill>
            <a:srgbClr val="E6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995928" y="2020824"/>
            <a:ext cx="146304" cy="292608"/>
          </a:xfrm>
          <a:prstGeom prst="rect">
            <a:avLst/>
          </a:prstGeom>
          <a:solidFill>
            <a:srgbClr val="E6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00259" y="2229724"/>
            <a:ext cx="146304" cy="292608"/>
          </a:xfrm>
          <a:prstGeom prst="rect">
            <a:avLst/>
          </a:prstGeom>
          <a:solidFill>
            <a:srgbClr val="E6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73952" y="2313432"/>
            <a:ext cx="402336" cy="402336"/>
          </a:xfrm>
          <a:prstGeom prst="ellipse">
            <a:avLst/>
          </a:prstGeom>
          <a:solidFill>
            <a:srgbClr val="BEC8DC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125711" y="2313432"/>
            <a:ext cx="402336" cy="402336"/>
          </a:xfrm>
          <a:prstGeom prst="ellipse">
            <a:avLst/>
          </a:prstGeom>
          <a:solidFill>
            <a:srgbClr val="BEC8DC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6903720" y="2514600"/>
            <a:ext cx="313508" cy="109728"/>
          </a:xfrm>
          <a:prstGeom prst="line">
            <a:avLst/>
          </a:prstGeom>
          <a:ln w="508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217228" y="2404872"/>
            <a:ext cx="313509" cy="219456"/>
          </a:xfrm>
          <a:prstGeom prst="line">
            <a:avLst/>
          </a:prstGeom>
          <a:ln w="508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530737" y="2404872"/>
            <a:ext cx="313508" cy="219456"/>
          </a:xfrm>
          <a:prstGeom prst="line">
            <a:avLst/>
          </a:prstGeom>
          <a:ln w="508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844245" y="2404872"/>
            <a:ext cx="313509" cy="219456"/>
          </a:xfrm>
          <a:prstGeom prst="line">
            <a:avLst/>
          </a:prstGeom>
          <a:ln w="508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157754" y="2404872"/>
            <a:ext cx="313508" cy="219456"/>
          </a:xfrm>
          <a:prstGeom prst="line">
            <a:avLst/>
          </a:prstGeom>
          <a:ln w="508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71262" y="2404872"/>
            <a:ext cx="313509" cy="219456"/>
          </a:xfrm>
          <a:prstGeom prst="line">
            <a:avLst/>
          </a:prstGeom>
          <a:ln w="508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784771" y="2404872"/>
            <a:ext cx="313509" cy="109728"/>
          </a:xfrm>
          <a:prstGeom prst="line">
            <a:avLst/>
          </a:prstGeom>
          <a:ln w="508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554480" y="4206240"/>
            <a:ext cx="3840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8EDF7"/>
                </a:solidFill>
                <a:latin typeface="Aptos"/>
              </a:rPr>
              <a:t>Counter-rotating
insulating disks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3886200"/>
            <a:ext cx="1828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8EDF7"/>
                </a:solidFill>
                <a:latin typeface="Aptos"/>
              </a:rPr>
              <a:t>Opposite charges
accumulate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3886200"/>
            <a:ext cx="1920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8EDF7"/>
                </a:solidFill>
                <a:latin typeface="Aptos"/>
              </a:rPr>
              <a:t>High electric field
breaks down the air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20240" y="5257800"/>
            <a:ext cx="8412480" cy="777240"/>
          </a:xfrm>
          <a:prstGeom prst="roundRect">
            <a:avLst/>
          </a:prstGeom>
          <a:solidFill>
            <a:srgbClr val="F4F7FD"/>
          </a:solidFill>
          <a:ln w="19050">
            <a:solidFill>
              <a:srgbClr val="5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920240" y="5257800"/>
            <a:ext cx="8412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91C26"/>
                </a:solidFill>
                <a:latin typeface="Aptos"/>
              </a:rPr>
              <a:t>Mechanical energy → charge separation → high voltage → spark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Four Quantities to Keep Separate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234440" cy="45720"/>
          </a:xfrm>
          <a:prstGeom prst="rect">
            <a:avLst/>
          </a:prstGeom>
          <a:solidFill>
            <a:srgbClr val="52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651760" cy="1828800"/>
          </a:xfrm>
          <a:prstGeom prst="roundRect">
            <a:avLst/>
          </a:prstGeom>
          <a:solidFill>
            <a:srgbClr val="222D4B"/>
          </a:solidFill>
          <a:ln w="12700">
            <a:solidFill>
              <a:srgbClr val="4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572768"/>
            <a:ext cx="224942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52BEDC"/>
                </a:solidFill>
                <a:latin typeface="Aptos"/>
              </a:rPr>
              <a:t>Charge (Q)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93392"/>
            <a:ext cx="2249424" cy="12070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How much electrical charge has accumulated.
Measured in coulombs.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463040"/>
            <a:ext cx="2651760" cy="1828800"/>
          </a:xfrm>
          <a:prstGeom prst="roundRect">
            <a:avLst/>
          </a:prstGeom>
          <a:solidFill>
            <a:srgbClr val="222D4B"/>
          </a:solidFill>
          <a:ln w="12700">
            <a:solidFill>
              <a:srgbClr val="4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21608" y="1572768"/>
            <a:ext cx="224942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6AF37"/>
                </a:solidFill>
                <a:latin typeface="Aptos"/>
              </a:rPr>
              <a:t>Voltage (V)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1608" y="1993392"/>
            <a:ext cx="2249424" cy="12070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Electrical potential difference between the terminals.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2651760" cy="1828800"/>
          </a:xfrm>
          <a:prstGeom prst="roundRect">
            <a:avLst/>
          </a:prstGeom>
          <a:solidFill>
            <a:srgbClr val="222D4B"/>
          </a:solidFill>
          <a:ln w="12700">
            <a:solidFill>
              <a:srgbClr val="4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01968" y="1572768"/>
            <a:ext cx="224942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AA82F0"/>
                </a:solidFill>
                <a:latin typeface="Aptos"/>
              </a:rPr>
              <a:t>Capacitance (C)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1993392"/>
            <a:ext cx="2249424" cy="12070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How much charge can be stored for a given voltage.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463040"/>
            <a:ext cx="2286000" cy="1828800"/>
          </a:xfrm>
          <a:prstGeom prst="roundRect">
            <a:avLst/>
          </a:prstGeom>
          <a:solidFill>
            <a:srgbClr val="222D4B"/>
          </a:solidFill>
          <a:ln w="12700">
            <a:solidFill>
              <a:srgbClr val="4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82328" y="1572768"/>
            <a:ext cx="18836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6EDCA0"/>
                </a:solidFill>
                <a:latin typeface="Aptos"/>
              </a:rPr>
              <a:t>Current (I)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82328" y="1993392"/>
            <a:ext cx="1883664" cy="12070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Rate at which charge flows.
Measured in amperes.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3794760"/>
            <a:ext cx="8549640" cy="868680"/>
          </a:xfrm>
          <a:prstGeom prst="roundRect">
            <a:avLst/>
          </a:prstGeom>
          <a:solidFill>
            <a:srgbClr val="F4F7FD"/>
          </a:solidFill>
          <a:ln w="19050">
            <a:solidFill>
              <a:srgbClr val="5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28800" y="3794760"/>
            <a:ext cx="8549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91C26"/>
                </a:solidFill>
                <a:latin typeface="Aptos"/>
              </a:rPr>
              <a:t>Q = C V        and        V = Q /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983480"/>
            <a:ext cx="9966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8EDF7"/>
                </a:solidFill>
                <a:latin typeface="Aptos"/>
              </a:rPr>
              <a:t>Low capacitance means only a small amount of charge is needed to reach a very high voltage.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Without Leyden Jars: Rapid Thin Blue Discharges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234440" cy="45720"/>
          </a:xfrm>
          <a:prstGeom prst="rect">
            <a:avLst/>
          </a:prstGeom>
          <a:solidFill>
            <a:srgbClr val="52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27632" y="2542032"/>
            <a:ext cx="402336" cy="402336"/>
          </a:xfrm>
          <a:prstGeom prst="ellipse">
            <a:avLst/>
          </a:prstGeom>
          <a:solidFill>
            <a:srgbClr val="BEC8DC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462272" y="2542032"/>
            <a:ext cx="402336" cy="402336"/>
          </a:xfrm>
          <a:prstGeom prst="ellipse">
            <a:avLst/>
          </a:prstGeom>
          <a:solidFill>
            <a:srgbClr val="BEC8DC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2057400" y="2743200"/>
            <a:ext cx="339634" cy="109728"/>
          </a:xfrm>
          <a:prstGeom prst="line">
            <a:avLst/>
          </a:prstGeom>
          <a:ln w="254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397034" y="2633472"/>
            <a:ext cx="339634" cy="219456"/>
          </a:xfrm>
          <a:prstGeom prst="line">
            <a:avLst/>
          </a:prstGeom>
          <a:ln w="254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36668" y="2633472"/>
            <a:ext cx="339634" cy="219456"/>
          </a:xfrm>
          <a:prstGeom prst="line">
            <a:avLst/>
          </a:prstGeom>
          <a:ln w="254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076302" y="2633472"/>
            <a:ext cx="339635" cy="219456"/>
          </a:xfrm>
          <a:prstGeom prst="line">
            <a:avLst/>
          </a:prstGeom>
          <a:ln w="254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15937" y="2633472"/>
            <a:ext cx="339634" cy="219456"/>
          </a:xfrm>
          <a:prstGeom prst="line">
            <a:avLst/>
          </a:prstGeom>
          <a:ln w="254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755571" y="2633472"/>
            <a:ext cx="339634" cy="219456"/>
          </a:xfrm>
          <a:prstGeom prst="line">
            <a:avLst/>
          </a:prstGeom>
          <a:ln w="254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095205" y="2633472"/>
            <a:ext cx="339635" cy="109728"/>
          </a:xfrm>
          <a:prstGeom prst="line">
            <a:avLst/>
          </a:prstGeom>
          <a:ln w="254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057400" y="2606040"/>
            <a:ext cx="339634" cy="109728"/>
          </a:xfrm>
          <a:prstGeom prst="line">
            <a:avLst/>
          </a:prstGeom>
          <a:ln w="127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397034" y="2496312"/>
            <a:ext cx="339634" cy="219456"/>
          </a:xfrm>
          <a:prstGeom prst="line">
            <a:avLst/>
          </a:prstGeom>
          <a:ln w="127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36668" y="2496312"/>
            <a:ext cx="339634" cy="219456"/>
          </a:xfrm>
          <a:prstGeom prst="line">
            <a:avLst/>
          </a:prstGeom>
          <a:ln w="127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076302" y="2496312"/>
            <a:ext cx="339635" cy="219456"/>
          </a:xfrm>
          <a:prstGeom prst="line">
            <a:avLst/>
          </a:prstGeom>
          <a:ln w="127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15937" y="2496312"/>
            <a:ext cx="339634" cy="219456"/>
          </a:xfrm>
          <a:prstGeom prst="line">
            <a:avLst/>
          </a:prstGeom>
          <a:ln w="127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755571" y="2496312"/>
            <a:ext cx="339634" cy="219456"/>
          </a:xfrm>
          <a:prstGeom prst="line">
            <a:avLst/>
          </a:prstGeom>
          <a:ln w="127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95205" y="2496312"/>
            <a:ext cx="339635" cy="109728"/>
          </a:xfrm>
          <a:prstGeom prst="line">
            <a:avLst/>
          </a:prstGeom>
          <a:ln w="127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057400" y="2880360"/>
            <a:ext cx="339634" cy="109728"/>
          </a:xfrm>
          <a:prstGeom prst="line">
            <a:avLst/>
          </a:prstGeom>
          <a:ln w="127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397034" y="2770632"/>
            <a:ext cx="339634" cy="219456"/>
          </a:xfrm>
          <a:prstGeom prst="line">
            <a:avLst/>
          </a:prstGeom>
          <a:ln w="127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36668" y="2770632"/>
            <a:ext cx="339634" cy="219456"/>
          </a:xfrm>
          <a:prstGeom prst="line">
            <a:avLst/>
          </a:prstGeom>
          <a:ln w="127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076302" y="2770632"/>
            <a:ext cx="339635" cy="219456"/>
          </a:xfrm>
          <a:prstGeom prst="line">
            <a:avLst/>
          </a:prstGeom>
          <a:ln w="127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15937" y="2770632"/>
            <a:ext cx="339634" cy="219456"/>
          </a:xfrm>
          <a:prstGeom prst="line">
            <a:avLst/>
          </a:prstGeom>
          <a:ln w="127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755571" y="2770632"/>
            <a:ext cx="339634" cy="219456"/>
          </a:xfrm>
          <a:prstGeom prst="line">
            <a:avLst/>
          </a:prstGeom>
          <a:ln w="127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095205" y="2770632"/>
            <a:ext cx="339635" cy="109728"/>
          </a:xfrm>
          <a:prstGeom prst="line">
            <a:avLst/>
          </a:prstGeom>
          <a:ln w="127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669280" y="1508760"/>
            <a:ext cx="5394960" cy="3200400"/>
          </a:xfrm>
          <a:prstGeom prst="roundRect">
            <a:avLst/>
          </a:prstGeom>
          <a:solidFill>
            <a:srgbClr val="222D4B"/>
          </a:solidFill>
          <a:ln w="12700">
            <a:solidFill>
              <a:srgbClr val="4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70448" y="1618488"/>
            <a:ext cx="499262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52BEDC"/>
                </a:solidFill>
                <a:latin typeface="Aptos"/>
              </a:rPr>
              <a:t>What is happening?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70448" y="2039112"/>
            <a:ext cx="4992624" cy="2578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• Effective capacitance is small.
• A little transferred charge produces a large voltage rise.
• Surface charge creates a strong electric field.
• Air ionizes quickly.
• The small stored charge discharges, then the cycle repeats rapidly.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5074920"/>
            <a:ext cx="9966960" cy="777240"/>
          </a:xfrm>
          <a:prstGeom prst="roundRect">
            <a:avLst/>
          </a:prstGeom>
          <a:solidFill>
            <a:srgbClr val="F4F7FD"/>
          </a:solidFill>
          <a:ln w="19050">
            <a:solidFill>
              <a:srgbClr val="5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" y="5074920"/>
            <a:ext cx="9966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91C26"/>
                </a:solidFill>
                <a:latin typeface="Aptos"/>
              </a:rPr>
              <a:t>Small C → little Q needed → breakdown reached quickly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With Leyden Jars: Slower, Brighter, More Energetic Sparks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234440" cy="45720"/>
          </a:xfrm>
          <a:prstGeom prst="rect">
            <a:avLst/>
          </a:prstGeom>
          <a:solidFill>
            <a:srgbClr val="52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an 4"/>
          <p:cNvSpPr/>
          <p:nvPr/>
        </p:nvSpPr>
        <p:spPr>
          <a:xfrm>
            <a:off x="1051560" y="1828800"/>
            <a:ext cx="1051560" cy="2057400"/>
          </a:xfrm>
          <a:prstGeom prst="can">
            <a:avLst/>
          </a:prstGeom>
          <a:solidFill>
            <a:srgbClr val="CDD7EB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n 5"/>
          <p:cNvSpPr/>
          <p:nvPr/>
        </p:nvSpPr>
        <p:spPr>
          <a:xfrm>
            <a:off x="3703320" y="1828800"/>
            <a:ext cx="1051560" cy="2057400"/>
          </a:xfrm>
          <a:prstGeom prst="can">
            <a:avLst/>
          </a:prstGeom>
          <a:solidFill>
            <a:srgbClr val="CDD7EB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719072" y="1444752"/>
            <a:ext cx="402336" cy="402336"/>
          </a:xfrm>
          <a:prstGeom prst="ellipse">
            <a:avLst/>
          </a:prstGeom>
          <a:solidFill>
            <a:srgbClr val="BEC8DC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370832" y="1444752"/>
            <a:ext cx="402336" cy="402336"/>
          </a:xfrm>
          <a:prstGeom prst="ellipse">
            <a:avLst/>
          </a:prstGeom>
          <a:solidFill>
            <a:srgbClr val="BEC8DC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2148840" y="1645920"/>
            <a:ext cx="313508" cy="109728"/>
          </a:xfrm>
          <a:prstGeom prst="line">
            <a:avLst/>
          </a:prstGeom>
          <a:ln w="762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462348" y="1536192"/>
            <a:ext cx="313509" cy="219456"/>
          </a:xfrm>
          <a:prstGeom prst="line">
            <a:avLst/>
          </a:prstGeom>
          <a:ln w="762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75857" y="1536192"/>
            <a:ext cx="313508" cy="219456"/>
          </a:xfrm>
          <a:prstGeom prst="line">
            <a:avLst/>
          </a:prstGeom>
          <a:ln w="762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089365" y="1536192"/>
            <a:ext cx="313509" cy="219456"/>
          </a:xfrm>
          <a:prstGeom prst="line">
            <a:avLst/>
          </a:prstGeom>
          <a:ln w="762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402874" y="1536192"/>
            <a:ext cx="313508" cy="219456"/>
          </a:xfrm>
          <a:prstGeom prst="line">
            <a:avLst/>
          </a:prstGeom>
          <a:ln w="762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716382" y="1536192"/>
            <a:ext cx="313509" cy="219456"/>
          </a:xfrm>
          <a:prstGeom prst="line">
            <a:avLst/>
          </a:prstGeom>
          <a:ln w="762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029891" y="1536192"/>
            <a:ext cx="313509" cy="109728"/>
          </a:xfrm>
          <a:prstGeom prst="line">
            <a:avLst/>
          </a:prstGeom>
          <a:ln w="762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715000" y="1508760"/>
            <a:ext cx="5349240" cy="3200400"/>
          </a:xfrm>
          <a:prstGeom prst="roundRect">
            <a:avLst/>
          </a:prstGeom>
          <a:solidFill>
            <a:srgbClr val="222D4B"/>
          </a:solidFill>
          <a:ln w="12700">
            <a:solidFill>
              <a:srgbClr val="4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16168" y="1618488"/>
            <a:ext cx="494690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6AF37"/>
                </a:solidFill>
                <a:latin typeface="Aptos"/>
              </a:rPr>
              <a:t>What changes?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6168" y="2039112"/>
            <a:ext cx="4946903" cy="2578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• The jars greatly increase capacitance.
• More charge is needed to reach the same breakdown region.
• Charging takes longer.
• Much more charge and energy are available when breakdown occurs.
• The result is a thick, bright, loud spark.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5074920"/>
            <a:ext cx="8549640" cy="777240"/>
          </a:xfrm>
          <a:prstGeom prst="roundRect">
            <a:avLst/>
          </a:prstGeom>
          <a:solidFill>
            <a:srgbClr val="F4F7FD"/>
          </a:solidFill>
          <a:ln w="19050">
            <a:solidFill>
              <a:srgbClr val="5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28800" y="5074920"/>
            <a:ext cx="8549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91C26"/>
                </a:solidFill>
                <a:latin typeface="Aptos"/>
              </a:rPr>
              <a:t>Stored energy:  E = ½ C V²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Same Generator — Very Different Discharge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234440" cy="45720"/>
          </a:xfrm>
          <a:prstGeom prst="rect">
            <a:avLst/>
          </a:prstGeom>
          <a:solidFill>
            <a:srgbClr val="52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4251960"/>
          </a:xfrm>
          <a:prstGeom prst="roundRect">
            <a:avLst/>
          </a:prstGeom>
          <a:solidFill>
            <a:srgbClr val="222D4B"/>
          </a:solidFill>
          <a:ln w="12700">
            <a:solidFill>
              <a:srgbClr val="4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527048"/>
            <a:ext cx="494690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52BEDC"/>
                </a:solidFill>
                <a:latin typeface="Aptos"/>
              </a:rPr>
              <a:t>WITHOUT LEYDEN JARS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47672"/>
            <a:ext cx="4946903" cy="3630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Low capacitance
Voltage rises quickly
Frequent discharge
Thin blue stream
Little energy per event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417320"/>
            <a:ext cx="5349240" cy="4251960"/>
          </a:xfrm>
          <a:prstGeom prst="roundRect">
            <a:avLst/>
          </a:prstGeom>
          <a:solidFill>
            <a:srgbClr val="222D4B"/>
          </a:solidFill>
          <a:ln w="12700">
            <a:solidFill>
              <a:srgbClr val="4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527048"/>
            <a:ext cx="494690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6AF37"/>
                </a:solidFill>
                <a:latin typeface="Aptos"/>
              </a:rPr>
              <a:t>WITH LEYDEN JARS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47672"/>
            <a:ext cx="4946903" cy="3630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Higher capacitance
More charge must accumulate
Less frequent discharge
Thick, bright spark
Much more energy per 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806440"/>
            <a:ext cx="10058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AFF"/>
                </a:solidFill>
                <a:latin typeface="Aptos"/>
              </a:rPr>
              <a:t>The jars primarily change charge storage and discharge energy — not the basic mechanism that creates the high voltage.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Estimating Voltage with the Spark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234440" cy="45720"/>
          </a:xfrm>
          <a:prstGeom prst="rect">
            <a:avLst/>
          </a:prstGeom>
          <a:solidFill>
            <a:srgbClr val="52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972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Air breakdown provides a practical indirect measurement.</a:t>
            </a:r>
          </a:p>
        </p:txBody>
      </p:sp>
      <p:sp>
        <p:nvSpPr>
          <p:cNvPr id="6" name="Oval 5"/>
          <p:cNvSpPr/>
          <p:nvPr/>
        </p:nvSpPr>
        <p:spPr>
          <a:xfrm>
            <a:off x="1216152" y="2542032"/>
            <a:ext cx="402336" cy="402336"/>
          </a:xfrm>
          <a:prstGeom prst="ellipse">
            <a:avLst/>
          </a:prstGeom>
          <a:solidFill>
            <a:srgbClr val="BEC8DC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873752" y="2542032"/>
            <a:ext cx="402336" cy="402336"/>
          </a:xfrm>
          <a:prstGeom prst="ellipse">
            <a:avLst/>
          </a:prstGeom>
          <a:solidFill>
            <a:srgbClr val="BEC8DC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645920" y="2743200"/>
            <a:ext cx="457200" cy="109728"/>
          </a:xfrm>
          <a:prstGeom prst="line">
            <a:avLst/>
          </a:prstGeom>
          <a:ln w="508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103120" y="2633472"/>
            <a:ext cx="457200" cy="219456"/>
          </a:xfrm>
          <a:prstGeom prst="line">
            <a:avLst/>
          </a:prstGeom>
          <a:ln w="508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560320" y="2633472"/>
            <a:ext cx="457200" cy="219456"/>
          </a:xfrm>
          <a:prstGeom prst="line">
            <a:avLst/>
          </a:prstGeom>
          <a:ln w="508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017520" y="2633472"/>
            <a:ext cx="457200" cy="219456"/>
          </a:xfrm>
          <a:prstGeom prst="line">
            <a:avLst/>
          </a:prstGeom>
          <a:ln w="508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474720" y="2633472"/>
            <a:ext cx="457200" cy="219456"/>
          </a:xfrm>
          <a:prstGeom prst="line">
            <a:avLst/>
          </a:prstGeom>
          <a:ln w="508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931920" y="2633472"/>
            <a:ext cx="457200" cy="219456"/>
          </a:xfrm>
          <a:prstGeom prst="line">
            <a:avLst/>
          </a:prstGeom>
          <a:ln w="508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389120" y="2633472"/>
            <a:ext cx="457200" cy="109728"/>
          </a:xfrm>
          <a:prstGeom prst="line">
            <a:avLst/>
          </a:prstGeom>
          <a:ln w="508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645920" y="3703320"/>
            <a:ext cx="3200400" cy="0"/>
          </a:xfrm>
          <a:prstGeom prst="line">
            <a:avLst/>
          </a:prstGeom>
          <a:ln w="25400">
            <a:solidFill>
              <a:srgbClr val="E6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0" y="374903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E6AF37"/>
                </a:solidFill>
                <a:latin typeface="Aptos"/>
              </a:rPr>
              <a:t>measured gap 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874519"/>
            <a:ext cx="4709160" cy="822960"/>
          </a:xfrm>
          <a:prstGeom prst="roundRect">
            <a:avLst/>
          </a:prstGeom>
          <a:solidFill>
            <a:srgbClr val="F4F7FD"/>
          </a:solidFill>
          <a:ln w="19050">
            <a:solidFill>
              <a:srgbClr val="5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80760" y="1874519"/>
            <a:ext cx="4709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91C26"/>
                </a:solidFill>
                <a:latin typeface="Aptos"/>
              </a:rPr>
              <a:t>V ≈ (3 kV/mm) × 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971800"/>
            <a:ext cx="4709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8FAFF"/>
                </a:solidFill>
                <a:latin typeface="Aptos"/>
              </a:rPr>
              <a:t>Example: 10 mm × 3 kV/mm ≈ 30 kV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794760"/>
            <a:ext cx="46177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8EDF7"/>
                </a:solidFill>
                <a:latin typeface="Aptos"/>
              </a:rPr>
              <a:t>This is an estimate, not a precision measurement. Humidity, pressure, electrode shape and other factors affect air breakdown.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57800"/>
            <a:ext cx="9966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52BEDC"/>
                </a:solidFill>
                <a:latin typeface="Aptos"/>
              </a:rPr>
              <a:t>Best practice: measure the maximum repeatable spark gap over several trials.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Why Not Use an Ordinary Voltmeter or Oscilloscope?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234440" cy="45720"/>
          </a:xfrm>
          <a:prstGeom prst="rect">
            <a:avLst/>
          </a:prstGeom>
          <a:solidFill>
            <a:srgbClr val="52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4206240"/>
          </a:xfrm>
          <a:prstGeom prst="roundRect">
            <a:avLst/>
          </a:prstGeom>
          <a:solidFill>
            <a:srgbClr val="222D4B"/>
          </a:solidFill>
          <a:ln w="12700">
            <a:solidFill>
              <a:srgbClr val="4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527048"/>
            <a:ext cx="307238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52BEDC"/>
                </a:solidFill>
                <a:latin typeface="Aptos"/>
              </a:rPr>
              <a:t>Voltage Rating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47672"/>
            <a:ext cx="3072384" cy="35844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A Wimshurst machine may reach tens of kilovolts. Ordinary meters and probes are commonly rated for hundreds of volts to about 1 kV—not 30–60 kV.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417320"/>
            <a:ext cx="3474720" cy="4206240"/>
          </a:xfrm>
          <a:prstGeom prst="roundRect">
            <a:avLst/>
          </a:prstGeom>
          <a:solidFill>
            <a:srgbClr val="222D4B"/>
          </a:solidFill>
          <a:ln w="12700">
            <a:solidFill>
              <a:srgbClr val="4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62855" y="1527048"/>
            <a:ext cx="307238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6AF37"/>
                </a:solidFill>
                <a:latin typeface="Aptos"/>
              </a:rPr>
              <a:t>Loading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5" y="1947672"/>
            <a:ext cx="3072384" cy="35844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A normal meter has finite resistance. On a very-low-current electrostatic source, the meter can draw enough current to collapse the voltage instead of simply measuring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417320"/>
            <a:ext cx="3474720" cy="4206240"/>
          </a:xfrm>
          <a:prstGeom prst="roundRect">
            <a:avLst/>
          </a:prstGeom>
          <a:solidFill>
            <a:srgbClr val="222D4B"/>
          </a:solidFill>
          <a:ln w="12700">
            <a:solidFill>
              <a:srgbClr val="4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84464" y="1527048"/>
            <a:ext cx="307238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AA82F0"/>
                </a:solidFill>
                <a:latin typeface="Aptos"/>
              </a:rPr>
              <a:t>Oscilloscope 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1947672"/>
            <a:ext cx="3072384" cy="35844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Many scopes have an earth-referenced probe ground. Connecting it to a floating electrostatic generator can alter the circuit and create an unintended discharge path.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806440"/>
            <a:ext cx="10149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8FAFF"/>
                </a:solidFill>
                <a:latin typeface="Aptos"/>
              </a:rPr>
              <a:t>Direct measurement requires specialized high-voltage, very-high-impedance instrumentation.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High Voltage Does Not Necessarily Mean High Power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234440" cy="45720"/>
          </a:xfrm>
          <a:prstGeom prst="rect">
            <a:avLst/>
          </a:prstGeom>
          <a:solidFill>
            <a:srgbClr val="52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2743200" cy="822960"/>
          </a:xfrm>
          <a:prstGeom prst="roundRect">
            <a:avLst/>
          </a:prstGeom>
          <a:solidFill>
            <a:srgbClr val="F4F7FD"/>
          </a:solidFill>
          <a:ln w="19050">
            <a:solidFill>
              <a:srgbClr val="5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743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91C26"/>
                </a:solidFill>
                <a:latin typeface="Aptos"/>
              </a:rPr>
              <a:t>P = V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41732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52BEDC"/>
                </a:solidFill>
                <a:latin typeface="Aptos"/>
              </a:rPr>
              <a:t>Example Wimshurst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828800"/>
            <a:ext cx="3749039" cy="233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8FAFF"/>
                </a:solidFill>
                <a:latin typeface="Aptos"/>
              </a:rPr>
              <a:t>V = 30,000 V = 30 kV
I = 10 µA = 0.000010 A
P = (30,000 V)(0.000010 A)
P = 0.30 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417320"/>
            <a:ext cx="3520440" cy="2788920"/>
          </a:xfrm>
          <a:prstGeom prst="roundRect">
            <a:avLst/>
          </a:prstGeom>
          <a:solidFill>
            <a:srgbClr val="222D4B"/>
          </a:solidFill>
          <a:ln w="12700">
            <a:solidFill>
              <a:srgbClr val="4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8" y="1527048"/>
            <a:ext cx="311810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6AF37"/>
                </a:solidFill>
                <a:latin typeface="Aptos"/>
              </a:rPr>
              <a:t>Compare: USB Supply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0728" y="1947672"/>
            <a:ext cx="3118104" cy="2167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5 V × 2 A = 10 W
The USB supply has 6,000× less voltage, yet can deliver more than 33× as much continuous power in this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10378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8EDF7"/>
                </a:solidFill>
                <a:latin typeface="Aptos"/>
              </a:rPr>
              <a:t>30,000 volts sounds enormous — but with only 10 millionths of an ampere, the calculated power is just 0.30 watt.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715000"/>
            <a:ext cx="9921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52BEDC"/>
                </a:solidFill>
                <a:latin typeface="Aptos"/>
              </a:rPr>
              <a:t>Important: the 10 µA value is an example. Actual power requires a reliable current measurement or specification.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Why Can a Low-Power Machine Make Such a Dramatic Spark?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234440" cy="45720"/>
          </a:xfrm>
          <a:prstGeom prst="rect">
            <a:avLst/>
          </a:prstGeom>
          <a:solidFill>
            <a:srgbClr val="52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3749039" cy="822960"/>
          </a:xfrm>
          <a:prstGeom prst="roundRect">
            <a:avLst/>
          </a:prstGeom>
          <a:solidFill>
            <a:srgbClr val="F4F7FD"/>
          </a:solidFill>
          <a:ln w="19050">
            <a:solidFill>
              <a:srgbClr val="5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374903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91C26"/>
                </a:solidFill>
                <a:latin typeface="Aptos"/>
              </a:rPr>
              <a:t>E_stored = ½ C V²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60320"/>
            <a:ext cx="3749039" cy="822960"/>
          </a:xfrm>
          <a:prstGeom prst="roundRect">
            <a:avLst/>
          </a:prstGeom>
          <a:solidFill>
            <a:srgbClr val="F4F7FD"/>
          </a:solidFill>
          <a:ln w="19050">
            <a:solidFill>
              <a:srgbClr val="5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374903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91C26"/>
                </a:solidFill>
                <a:latin typeface="Aptos"/>
              </a:rPr>
              <a:t>P_discharge ≈ E_stored / 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417320"/>
            <a:ext cx="6035040" cy="3154680"/>
          </a:xfrm>
          <a:prstGeom prst="roundRect">
            <a:avLst/>
          </a:prstGeom>
          <a:solidFill>
            <a:srgbClr val="222D4B"/>
          </a:solidFill>
          <a:ln w="12700">
            <a:solidFill>
              <a:srgbClr val="4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84648" y="1527048"/>
            <a:ext cx="563270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6AF37"/>
                </a:solidFill>
                <a:latin typeface="Aptos"/>
              </a:rPr>
              <a:t>Energy is accumulated, then released quickly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4648" y="1947672"/>
            <a:ext cx="5632703" cy="2532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A Leyden jar may charge over a relatively long interval, then release much of its stored energy in a tiny fraction of a second.
Example only:
0.05 J ÷ 0.0001 s = 500 W during that brief interval.
That does NOT mean the generator continuously produces 500 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166360"/>
            <a:ext cx="10058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52BEDC"/>
                </a:solidFill>
                <a:latin typeface="Aptos"/>
              </a:rPr>
              <a:t>Average generator power and instantaneous spark power are different quantities.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Demonstrations for the Science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234440" cy="45720"/>
          </a:xfrm>
          <a:prstGeom prst="rect">
            <a:avLst/>
          </a:prstGeom>
          <a:solidFill>
            <a:srgbClr val="52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606040" cy="3429000"/>
          </a:xfrm>
          <a:prstGeom prst="roundRect">
            <a:avLst/>
          </a:prstGeom>
          <a:solidFill>
            <a:srgbClr val="222D4B"/>
          </a:solidFill>
          <a:ln w="12700">
            <a:solidFill>
              <a:srgbClr val="4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527048"/>
            <a:ext cx="220370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52BEDC"/>
                </a:solidFill>
                <a:latin typeface="Aptos"/>
              </a:rPr>
              <a:t>1. Spark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47672"/>
            <a:ext cx="2203704" cy="2807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Measure the maximum repeatable gap and estimate voltage using ~3 kV/mm.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606040" cy="3429000"/>
          </a:xfrm>
          <a:prstGeom prst="roundRect">
            <a:avLst/>
          </a:prstGeom>
          <a:solidFill>
            <a:srgbClr val="222D4B"/>
          </a:solidFill>
          <a:ln w="12700">
            <a:solidFill>
              <a:srgbClr val="4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30168" y="1527048"/>
            <a:ext cx="220370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6AF37"/>
                </a:solidFill>
                <a:latin typeface="Aptos"/>
              </a:rPr>
              <a:t>2. No Jars vs. Jars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1947672"/>
            <a:ext cx="2203704" cy="2807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Compare rapid thin blue discharge with slower, bright energetic sparks.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2606040" cy="3429000"/>
          </a:xfrm>
          <a:prstGeom prst="roundRect">
            <a:avLst/>
          </a:prstGeom>
          <a:solidFill>
            <a:srgbClr val="222D4B"/>
          </a:solidFill>
          <a:ln w="12700">
            <a:solidFill>
              <a:srgbClr val="4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527048"/>
            <a:ext cx="220370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AA82F0"/>
                </a:solidFill>
                <a:latin typeface="Aptos"/>
              </a:rPr>
              <a:t>3. Neon Lamp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47672"/>
            <a:ext cx="2203704" cy="2807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Show that high voltage can ionize neon and produce visible light with very small current.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417320"/>
            <a:ext cx="2606040" cy="3429000"/>
          </a:xfrm>
          <a:prstGeom prst="roundRect">
            <a:avLst/>
          </a:prstGeom>
          <a:solidFill>
            <a:srgbClr val="222D4B"/>
          </a:solidFill>
          <a:ln w="12700">
            <a:solidFill>
              <a:srgbClr val="4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08008" y="1527048"/>
            <a:ext cx="220370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6EDCA0"/>
                </a:solidFill>
                <a:latin typeface="Aptos"/>
              </a:rPr>
              <a:t>4. Optional Pendulum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8008" y="1947672"/>
            <a:ext cx="2203704" cy="2807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Demonstrate electrostatic attraction, contact charging, and repulsion.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5780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8FAFF"/>
                </a:solidFill>
                <a:latin typeface="Aptos"/>
              </a:rPr>
              <a:t>A coherent story: charge separation → electric field → voltage → capacitance → energy storage → breakdown.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What the Experiment Demonstrates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234440" cy="45720"/>
          </a:xfrm>
          <a:prstGeom prst="rect">
            <a:avLst/>
          </a:prstGeom>
          <a:solidFill>
            <a:srgbClr val="52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8FAFF"/>
                </a:solidFill>
                <a:latin typeface="Aptos"/>
              </a:rPr>
              <a:t>The Wimshurst machine produces high voltage in both configurations.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240280"/>
            <a:ext cx="10058400" cy="731520"/>
          </a:xfrm>
          <a:prstGeom prst="roundRect">
            <a:avLst/>
          </a:prstGeom>
          <a:solidFill>
            <a:srgbClr val="F4F7FD"/>
          </a:solidFill>
          <a:ln w="19050">
            <a:solidFill>
              <a:srgbClr val="5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91C26"/>
                </a:solidFill>
                <a:latin typeface="Aptos"/>
              </a:rPr>
              <a:t>Without jars: small C → rapid voltage rise → frequent weak discharges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246120"/>
            <a:ext cx="10058400" cy="731520"/>
          </a:xfrm>
          <a:prstGeom prst="roundRect">
            <a:avLst/>
          </a:prstGeom>
          <a:solidFill>
            <a:srgbClr val="F4F7FD"/>
          </a:solidFill>
          <a:ln w="19050">
            <a:solidFill>
              <a:srgbClr val="5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324612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91C26"/>
                </a:solidFill>
                <a:latin typeface="Aptos"/>
              </a:rPr>
              <a:t>With jars: larger C → more stored Q and E → less frequent, stronger sparks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4251960"/>
            <a:ext cx="10058400" cy="731520"/>
          </a:xfrm>
          <a:prstGeom prst="roundRect">
            <a:avLst/>
          </a:prstGeom>
          <a:solidFill>
            <a:srgbClr val="F4F7FD"/>
          </a:solidFill>
          <a:ln w="19050">
            <a:solidFill>
              <a:srgbClr val="5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425196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91C26"/>
                </a:solidFill>
                <a:latin typeface="Aptos"/>
              </a:rPr>
              <a:t>Spark gap → indirect estimate of high voltage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2BEDC"/>
                </a:solidFill>
                <a:latin typeface="Aptos"/>
              </a:rPr>
              <a:t>Key lesson: voltage, current, power, charge, capacitance and stored energy are related — but they are not the same thing.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234440" cy="45720"/>
          </a:xfrm>
          <a:prstGeom prst="rect">
            <a:avLst/>
          </a:prstGeom>
          <a:solidFill>
            <a:srgbClr val="52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10332720" cy="4389120"/>
          </a:xfrm>
          <a:prstGeom prst="roundRect">
            <a:avLst/>
          </a:prstGeom>
          <a:solidFill>
            <a:srgbClr val="222D4B"/>
          </a:solidFill>
          <a:ln w="12700">
            <a:solidFill>
              <a:srgbClr val="4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" y="1527048"/>
            <a:ext cx="993038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6AF37"/>
                </a:solidFill>
                <a:latin typeface="Aptos"/>
              </a:rPr>
              <a:t>High voltage requires respect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947672"/>
            <a:ext cx="9930384" cy="3767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• Do not deliberately discharge the machine through a person.
• Treat Leyden jars as charged capacitors even after cranking stops.
• Discharge them with an appropriate insulated discharge tool before touching conductors.
• Keep away from flammable vapors and sensitive electronics.
• Do not connect ordinary meters or oscilloscope probes directly to the generator.
• Keep people with implanted electronic medical devices away from the discharge area.
• Perform the demonstration with responsible adult supervision.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897880"/>
            <a:ext cx="10149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8FAFF"/>
                </a:solidFill>
                <a:latin typeface="Aptos"/>
              </a:rPr>
              <a:t>High voltage sources capable of sustained current can be far more dangerous than a Wimshurst machine.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A Spark Is Also an Electromagnetic Signal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234440" cy="45720"/>
          </a:xfrm>
          <a:prstGeom prst="rect">
            <a:avLst/>
          </a:prstGeom>
          <a:solidFill>
            <a:srgbClr val="52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A rapid electrical discharge produces a broadband electromagnetic disturbance.</a:t>
            </a:r>
          </a:p>
        </p:txBody>
      </p:sp>
      <p:sp>
        <p:nvSpPr>
          <p:cNvPr id="6" name="Oval 5"/>
          <p:cNvSpPr/>
          <p:nvPr/>
        </p:nvSpPr>
        <p:spPr>
          <a:xfrm>
            <a:off x="1216152" y="2514600"/>
            <a:ext cx="402336" cy="402336"/>
          </a:xfrm>
          <a:prstGeom prst="ellipse">
            <a:avLst/>
          </a:prstGeom>
          <a:solidFill>
            <a:srgbClr val="BEC8DC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593592" y="2514600"/>
            <a:ext cx="402336" cy="402336"/>
          </a:xfrm>
          <a:prstGeom prst="ellipse">
            <a:avLst/>
          </a:prstGeom>
          <a:solidFill>
            <a:srgbClr val="BEC8DC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1645920" y="2578608"/>
            <a:ext cx="365760" cy="137160"/>
          </a:xfrm>
          <a:prstGeom prst="line">
            <a:avLst/>
          </a:prstGeom>
          <a:ln w="381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011680" y="2578608"/>
            <a:ext cx="365760" cy="237744"/>
          </a:xfrm>
          <a:prstGeom prst="line">
            <a:avLst/>
          </a:prstGeom>
          <a:ln w="381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377440" y="2587752"/>
            <a:ext cx="365760" cy="228600"/>
          </a:xfrm>
          <a:prstGeom prst="line">
            <a:avLst/>
          </a:prstGeom>
          <a:ln w="381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0" y="2587752"/>
            <a:ext cx="365760" cy="201168"/>
          </a:xfrm>
          <a:prstGeom prst="line">
            <a:avLst/>
          </a:prstGeom>
          <a:ln w="381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2715768"/>
            <a:ext cx="484632" cy="73152"/>
          </a:xfrm>
          <a:prstGeom prst="line">
            <a:avLst/>
          </a:prstGeom>
          <a:ln w="38100">
            <a:solidFill>
              <a:srgbClr val="52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rc 12"/>
          <p:cNvSpPr/>
          <p:nvPr/>
        </p:nvSpPr>
        <p:spPr>
          <a:xfrm>
            <a:off x="4206240" y="1920240"/>
            <a:ext cx="1005840" cy="1554480"/>
          </a:xfrm>
          <a:prstGeom prst="arc">
            <a:avLst/>
          </a:prstGeom>
          <a:noFill/>
          <a:ln w="25400">
            <a:solidFill>
              <a:srgbClr val="5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rc 13"/>
          <p:cNvSpPr/>
          <p:nvPr/>
        </p:nvSpPr>
        <p:spPr>
          <a:xfrm>
            <a:off x="4590288" y="1755648"/>
            <a:ext cx="1325880" cy="1883664"/>
          </a:xfrm>
          <a:prstGeom prst="arc">
            <a:avLst/>
          </a:prstGeom>
          <a:noFill/>
          <a:ln w="25400">
            <a:solidFill>
              <a:srgbClr val="5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rc 14"/>
          <p:cNvSpPr/>
          <p:nvPr/>
        </p:nvSpPr>
        <p:spPr>
          <a:xfrm>
            <a:off x="4974336" y="1591056"/>
            <a:ext cx="1645920" cy="2212848"/>
          </a:xfrm>
          <a:prstGeom prst="arc">
            <a:avLst/>
          </a:prstGeom>
          <a:noFill/>
          <a:ln w="25400">
            <a:solidFill>
              <a:srgbClr val="5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0" y="1874519"/>
            <a:ext cx="2743200" cy="2011680"/>
          </a:xfrm>
          <a:prstGeom prst="roundRect">
            <a:avLst/>
          </a:prstGeom>
          <a:solidFill>
            <a:srgbClr val="41485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43800" y="2057400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E6AF37"/>
                </a:solidFill>
                <a:latin typeface="Aptos"/>
              </a:rPr>
              <a:t>AM</a:t>
            </a:r>
          </a:p>
        </p:txBody>
      </p:sp>
      <p:sp>
        <p:nvSpPr>
          <p:cNvPr id="18" name="Oval 17"/>
          <p:cNvSpPr/>
          <p:nvPr/>
        </p:nvSpPr>
        <p:spPr>
          <a:xfrm>
            <a:off x="8778240" y="2331720"/>
            <a:ext cx="868680" cy="868680"/>
          </a:xfrm>
          <a:prstGeom prst="ellipse">
            <a:avLst/>
          </a:prstGeom>
          <a:solidFill>
            <a:srgbClr val="232632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7086600" y="1234440"/>
            <a:ext cx="594360" cy="640079"/>
          </a:xfrm>
          <a:prstGeom prst="line">
            <a:avLst/>
          </a:prstGeom>
          <a:ln>
            <a:solidFill>
              <a:srgbClr val="F8F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" y="4892040"/>
            <a:ext cx="10332720" cy="777240"/>
          </a:xfrm>
          <a:prstGeom prst="roundRect">
            <a:avLst/>
          </a:prstGeom>
          <a:solidFill>
            <a:srgbClr val="F4F7FD"/>
          </a:solidFill>
          <a:ln>
            <a:solidFill>
              <a:srgbClr val="5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89204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91C26"/>
                </a:solidFill>
                <a:latin typeface="Aptos"/>
              </a:rPr>
              <a:t>Spark → fast-changing current/field → electromagnetic pulse → AM radio click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806440"/>
            <a:ext cx="10241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E8EDF7"/>
                </a:solidFill>
                <a:latin typeface="Aptos"/>
              </a:rPr>
              <a:t>Historical connection: early spark-gap transmitters intentionally used electrical sparks to generate radio-frequency energy.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Experiment: Detect the Spark with an AM Radio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234440" cy="45720"/>
          </a:xfrm>
          <a:prstGeom prst="rect">
            <a:avLst/>
          </a:prstGeom>
          <a:solidFill>
            <a:srgbClr val="52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Compare the radio interference with and without the Leyden jars.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4206240"/>
          </a:xfrm>
          <a:prstGeom prst="roundRect">
            <a:avLst/>
          </a:prstGeom>
          <a:solidFill>
            <a:srgbClr val="222D4B"/>
          </a:solidFill>
          <a:ln>
            <a:solidFill>
              <a:srgbClr val="4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08760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52BEDC"/>
                </a:solidFill>
                <a:latin typeface="Aptos"/>
              </a:rPr>
              <a:t>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3063240" cy="36118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1. Battery-powered AM radio
2. Tune between stations
3. Start about 1–2 m away
4. Keep volume fixed
5. Use the same spark gap and similar cranking speed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29000" cy="4206240"/>
          </a:xfrm>
          <a:prstGeom prst="roundRect">
            <a:avLst/>
          </a:prstGeom>
          <a:solidFill>
            <a:srgbClr val="222D4B"/>
          </a:solidFill>
          <a:ln>
            <a:solidFill>
              <a:srgbClr val="4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508760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9682F0"/>
                </a:solidFill>
                <a:latin typeface="Aptos"/>
              </a:rPr>
              <a:t>Without Leyden Jars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920240"/>
            <a:ext cx="3063240" cy="36118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Expected: rapid, weaker impulses may sound like fast crackling or buzzing.
The discharge repeats quickly because little charge is stored per event.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417320"/>
            <a:ext cx="3429000" cy="4206240"/>
          </a:xfrm>
          <a:prstGeom prst="roundRect">
            <a:avLst/>
          </a:prstGeom>
          <a:solidFill>
            <a:srgbClr val="222D4B"/>
          </a:solidFill>
          <a:ln>
            <a:solidFill>
              <a:srgbClr val="4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84463" y="1508760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6AF37"/>
                </a:solidFill>
                <a:latin typeface="Aptos"/>
              </a:rPr>
              <a:t>With Leyden Jars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3" y="1920240"/>
            <a:ext cx="3063240" cy="36118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Expected: less frequent but stronger individual clicks or pops.
Each spark releases more stored energy.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0644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AFF"/>
                </a:solidFill>
                <a:latin typeface="Aptos"/>
              </a:rPr>
              <a:t>Optional measurement: move the radio farther away in measured steps and compare the maximum clear detection distance.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From Electrostatic Generation to Practical Electrical Power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234440" cy="45720"/>
          </a:xfrm>
          <a:prstGeom prst="rect">
            <a:avLst/>
          </a:prstGeom>
          <a:solidFill>
            <a:srgbClr val="52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The Testatika can be presented as a proposed example, assuming its reported operation is valid.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4297680" cy="4251960"/>
          </a:xfrm>
          <a:prstGeom prst="roundRect">
            <a:avLst/>
          </a:prstGeom>
          <a:solidFill>
            <a:srgbClr val="283046"/>
          </a:solidFill>
          <a:ln w="25400">
            <a:solidFill>
              <a:srgbClr val="E6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514600"/>
            <a:ext cx="3474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6AF37"/>
                </a:solidFill>
                <a:latin typeface="Aptos"/>
              </a:rPr>
              <a:t>INSERT TESTATIKA
IMAGE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069080"/>
            <a:ext cx="3657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E8EDF7"/>
                </a:solidFill>
                <a:latin typeface="Aptos"/>
              </a:rPr>
              <a:t>Suggested caption:
Testatika — Methernitha community,
Linden, Switzerland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417320"/>
            <a:ext cx="6263640" cy="1965960"/>
          </a:xfrm>
          <a:prstGeom prst="roundRect">
            <a:avLst/>
          </a:prstGeom>
          <a:solidFill>
            <a:srgbClr val="222D4B"/>
          </a:solidFill>
          <a:ln>
            <a:solidFill>
              <a:srgbClr val="4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40680" y="1508760"/>
            <a:ext cx="58978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52BEDC"/>
                </a:solidFill>
                <a:latin typeface="Aptos"/>
              </a:rPr>
              <a:t>Engineering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1920240"/>
            <a:ext cx="5897879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DF7"/>
                </a:solidFill>
                <a:latin typeface="Aptos"/>
              </a:rPr>
              <a:t>The Wimshurst-type electrostatic stage can be viewed as the high-voltage front end. A practical system would then collect, store, convert, and condition that electrical output for useful loads.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3657600"/>
            <a:ext cx="6080760" cy="685800"/>
          </a:xfrm>
          <a:prstGeom prst="roundRect">
            <a:avLst/>
          </a:prstGeom>
          <a:solidFill>
            <a:srgbClr val="F4F7FD"/>
          </a:solidFill>
          <a:ln>
            <a:solidFill>
              <a:srgbClr val="5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49240" y="3657600"/>
            <a:ext cx="6080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91C26"/>
                </a:solidFill>
                <a:latin typeface="Aptos"/>
              </a:rPr>
              <a:t>Electrostatic source → storage → conversion/regulation → useful 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4526280"/>
            <a:ext cx="59893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8EDF7"/>
                </a:solidFill>
                <a:latin typeface="Aptos"/>
              </a:rPr>
              <a:t>Inductive loads such as motors and transformers may require starting current, reactive current and transient handling. An intermediate DC bus and power converter/inverter could isolate the electrostatic source from those load demands.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5060"/>
            <a:ext cx="10607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E6AF37"/>
                </a:solidFill>
                <a:latin typeface="Aptos"/>
              </a:rPr>
              <a:t>Project framing: assuming the reported Testatika operation is valid, it illustrates how electrostatic generation might be adapted into a complete power-generation system.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806A772-51CC-4A8E-55F8-A0CED3764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08176"/>
            <a:ext cx="4480559" cy="431596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A9D7646-EB70-D3A4-0FEE-5FB8AFE3A1B8}"/>
              </a:ext>
            </a:extLst>
          </p:cNvPr>
          <p:cNvSpPr txBox="1"/>
          <p:nvPr/>
        </p:nvSpPr>
        <p:spPr>
          <a:xfrm>
            <a:off x="0" y="5821669"/>
            <a:ext cx="6263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400">
                <a:solidFill>
                  <a:schemeClr val="bg1"/>
                </a:solidFill>
              </a:rPr>
              <a:t>Testatika electrostatic generator — Methernitha community, Linden, Switzerland</a:t>
            </a:r>
            <a:endParaRPr lang="en-US" sz="1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1407</Words>
  <Application>Microsoft Macintosh PowerPoint</Application>
  <PresentationFormat>Widescreen</PresentationFormat>
  <Paragraphs>107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 Becnel</cp:lastModifiedBy>
  <cp:revision>2</cp:revision>
  <dcterms:created xsi:type="dcterms:W3CDTF">2013-01-27T09:14:16Z</dcterms:created>
  <dcterms:modified xsi:type="dcterms:W3CDTF">2026-08-18T04:21:31Z</dcterms:modified>
  <cp:category/>
</cp:coreProperties>
</file>